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3A8A"/>
                </a:solidFill>
              </a:defRPr>
            </a:pPr>
            <a:r>
              <a:t>OrionFleet Logistics</a:t>
            </a:r>
          </a:p>
          <a:p>
            <a:pPr>
              <a:defRPr sz="2400">
                <a:solidFill>
                  <a:srgbClr val="475569"/>
                </a:solidFill>
              </a:defRPr>
            </a:pPr>
            <a:r>
              <a:t>Business Analytics &amp; Profit Leakage Assessment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Prepared for: Executive Leadership Team</a:t>
            </a:r>
            <a:br/>
            <a:r>
              <a:t>Deliverable Package: Code, Dashboard, Analysis Report &amp;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1. Financial Performance &amp; 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• Total Net Billed Revenue: ₹4,13,47,142.30 across 2,200 transactions.</a:t>
            </a:r>
          </a:p>
          <a:p>
            <a:pPr>
              <a:spcAft>
                <a:spcPts val="1400"/>
              </a:spcAft>
              <a:defRPr sz="1800"/>
            </a:pPr>
            <a:r>
              <a:t>• Total Profit Margin Generated: ₹1,96,93,134.06 (~47.6% overall gross margin).</a:t>
            </a:r>
          </a:p>
          <a:p>
            <a:pPr>
              <a:spcAft>
                <a:spcPts val="1400"/>
              </a:spcAft>
              <a:defRPr sz="1800"/>
            </a:pPr>
            <a:r>
              <a:t>• Uncollected Cash Exposure: ₹88,41,780.27 (21.38% of total revenue tied up in pending, failed, or refunded states).</a:t>
            </a:r>
          </a:p>
          <a:p>
            <a:pPr>
              <a:spcAft>
                <a:spcPts val="1400"/>
              </a:spcAft>
              <a:defRPr sz="1800"/>
            </a:pPr>
            <a:r>
              <a:t>• Customer Base Breakdown: 1,001 total accounts (813 Active, 128 At Risk, 60 Churned).</a:t>
            </a:r>
          </a:p>
          <a:p>
            <a:pPr>
              <a:spcAft>
                <a:spcPts val="1400"/>
              </a:spcAft>
              <a:defRPr sz="1800"/>
            </a:pPr>
            <a:r>
              <a:t>• Annual Recurring Revenue Exposure: Over ₹1.16 Crores in contract value associated with At Risk or Churned accounts.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2. Uncollected Revenue &amp; Regional Risk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• Key Uncollected Metrics:</a:t>
            </a:r>
          </a:p>
          <a:p>
            <a:pPr>
              <a:defRPr sz="1600"/>
            </a:pPr>
            <a:r>
              <a:t>   - Failed Payments: ₹32.01 Lakhs</a:t>
            </a:r>
          </a:p>
          <a:p>
            <a:pPr>
              <a:defRPr sz="1600"/>
            </a:pPr>
            <a:r>
              <a:t>   - Pending Transactions: ₹43.45 Lakhs</a:t>
            </a:r>
          </a:p>
          <a:p>
            <a:pPr>
              <a:defRPr sz="1600"/>
            </a:pPr>
            <a:r>
              <a:t>   - Refunded Revenue: ₹12.95 Lakhs</a:t>
            </a:r>
          </a:p>
          <a:p>
            <a:br/>
            <a:pPr>
              <a:defRPr sz="1600"/>
            </a:pPr>
            <a:r>
              <a:t>• Top Risk Regions:</a:t>
            </a:r>
          </a:p>
          <a:p>
            <a:pPr>
              <a:defRPr sz="1600"/>
            </a:pPr>
            <a:r>
              <a:t>   - Ahmedabad: ₹13.17 Lakhs unpaid</a:t>
            </a:r>
          </a:p>
          <a:p>
            <a:pPr>
              <a:defRPr sz="1600"/>
            </a:pPr>
            <a:r>
              <a:t>   - Bengaluru: ₹13.14 Lakhs unpaid</a:t>
            </a:r>
          </a:p>
          <a:p>
            <a:pPr>
              <a:defRPr sz="1600"/>
            </a:pPr>
            <a:r>
              <a:t>   - Delhi NCR: ₹12.86 Lakhs unpaid</a:t>
            </a:r>
          </a:p>
          <a:p>
            <a:br/>
            <a:pPr>
              <a:defRPr sz="1600"/>
            </a:pPr>
            <a:r>
              <a:t>• Strategic Action:</a:t>
            </a:r>
          </a:p>
          <a:p>
            <a:pPr>
              <a:defRPr sz="1600"/>
            </a:pPr>
            <a:r>
              <a:t>   Establish regional collection protocols and automated payment retry mechanism.</a:t>
            </a:r>
          </a:p>
        </p:txBody>
      </p:sp>
      <p:pic>
        <p:nvPicPr>
          <p:cNvPr id="4" name="Picture 3" descr="chart_unpaid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3. Discount Over-Extension &amp; Margin Erosion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• Revenue Lost to Discounts: ₹19,58,612.30</a:t>
            </a:r>
          </a:p>
          <a:p>
            <a:br/>
            <a:pPr>
              <a:defRPr sz="1600"/>
            </a:pPr>
            <a:r>
              <a:t>• Profit Margin Progression:</a:t>
            </a:r>
          </a:p>
          <a:p>
            <a:pPr>
              <a:defRPr sz="1600"/>
            </a:pPr>
            <a:r>
              <a:t>   - 0% Discount: 44.8% Margin</a:t>
            </a:r>
          </a:p>
          <a:p>
            <a:pPr>
              <a:defRPr sz="1600"/>
            </a:pPr>
            <a:r>
              <a:t>   - 10% Discount: 39.6% Margin</a:t>
            </a:r>
          </a:p>
          <a:p>
            <a:pPr>
              <a:defRPr sz="1600"/>
            </a:pPr>
            <a:r>
              <a:t>   - 20% Discount: 31.8% Margin</a:t>
            </a:r>
          </a:p>
          <a:p>
            <a:br/>
            <a:pPr>
              <a:defRPr sz="1600"/>
            </a:pPr>
            <a:r>
              <a:t>• Negative-Margin Deals:</a:t>
            </a:r>
          </a:p>
          <a:p>
            <a:pPr>
              <a:defRPr sz="1600"/>
            </a:pPr>
            <a:r>
              <a:t>   - Exactly 67 transactions were executed at a net financial loss (₹36,105.26 direct loss).</a:t>
            </a:r>
          </a:p>
          <a:p>
            <a:pPr>
              <a:defRPr sz="1600"/>
            </a:pPr>
            <a:r>
              <a:t>   - Cause: 100% of negative sales occurred at 15% or 20% discount rates.</a:t>
            </a:r>
          </a:p>
          <a:p>
            <a:br/>
            <a:pPr>
              <a:defRPr sz="1600"/>
            </a:pPr>
            <a:r>
              <a:t>• Recommendation: Enforce a strict 10% discount cap across all sales channels.</a:t>
            </a:r>
          </a:p>
        </p:txBody>
      </p:sp>
      <p:pic>
        <p:nvPicPr>
          <p:cNvPr id="4" name="Picture 3" descr="chart_margin_dis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4. Evidence-Based 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800"/>
            </a:pPr>
            <a:r>
              <a:t>1. Cap Maximum Discounts at 10%:</a:t>
            </a:r>
          </a:p>
          <a:p>
            <a:pPr>
              <a:spcAft>
                <a:spcPts val="1000"/>
              </a:spcAft>
              <a:defRPr sz="1800"/>
            </a:pPr>
            <a:r>
              <a:t>   Eliminate sales rep authorization for 15%+ discounts to prevent negative-margin sales.</a:t>
            </a:r>
          </a:p>
          <a:p>
            <a:br/>
            <a:pPr>
              <a:spcAft>
                <a:spcPts val="1000"/>
              </a:spcAft>
              <a:defRPr sz="1800"/>
            </a:pPr>
            <a:r>
              <a:t>2. Automate Credit &amp; Payment Recovery:</a:t>
            </a:r>
          </a:p>
          <a:p>
            <a:pPr>
              <a:spcAft>
                <a:spcPts val="1000"/>
              </a:spcAft>
              <a:defRPr sz="1800"/>
            </a:pPr>
            <a:r>
              <a:t>   Implement automated payment retry workflows and prioritize collection teams in Ahmedabad and Bengaluru.</a:t>
            </a:r>
          </a:p>
          <a:p>
            <a:br/>
            <a:pPr>
              <a:spcAft>
                <a:spcPts val="1000"/>
              </a:spcAft>
              <a:defRPr sz="1800"/>
            </a:pPr>
            <a:r>
              <a:t>3. Proactive Account Health Interventions:</a:t>
            </a:r>
          </a:p>
          <a:p>
            <a:pPr>
              <a:spcAft>
                <a:spcPts val="1000"/>
              </a:spcAft>
              <a:defRPr sz="1800"/>
            </a:pPr>
            <a:r>
              <a:t>   Mobilize Customer Success teams for the 128 'At Risk' clients to protect ₹78.3 Lakhs in contract value.</a:t>
            </a:r>
          </a:p>
          <a:p>
            <a:br/>
            <a:pPr>
              <a:spcAft>
                <a:spcPts val="1000"/>
              </a:spcAft>
              <a:defRPr sz="1800"/>
            </a:pPr>
            <a:r>
              <a:t>4. Operational Support Streamlining:</a:t>
            </a:r>
          </a:p>
          <a:p>
            <a:pPr>
              <a:spcAft>
                <a:spcPts val="1000"/>
              </a:spcAft>
              <a:defRPr sz="1800"/>
            </a:pPr>
            <a:r>
              <a:t>   Reduce ticket resolution times for high-priority installation issues to safeguard client satisfaction.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